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A15A"/>
          </a:solidFill>
          <a:ln>
            <a:solidFill>
              <a:srgbClr val="C8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21440" cy="6172200"/>
          </a:xfrm>
          <a:prstGeom prst="rect">
            <a:avLst/>
          </a:prstGeom>
          <a:solidFill>
            <a:srgbClr val="FFFDF9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3038"/>
                </a:solidFill>
                <a:latin typeface="Songti SC"/>
              </a:defRPr>
            </a:pPr>
            <a:r>
              <a:t>浅色梦幻图书馆设定集</a:t>
            </a:r>
          </a:p>
          <a:p>
            <a:pPr>
              <a:defRPr sz="1100">
                <a:solidFill>
                  <a:srgbClr val="6F626C"/>
                </a:solidFill>
                <a:latin typeface="Heiti SC"/>
              </a:defRPr>
            </a:pPr>
            <a:r>
              <a:t>乙女游戏世界观 PPT / 视觉重构方向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6583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B3038"/>
                </a:solidFill>
                <a:latin typeface="Songti SC"/>
              </a:defRPr>
            </a:pPr>
            <a:r>
              <a:t>Word Match × 乙女游戏世界观</a:t>
            </a:r>
          </a:p>
          <a:p>
            <a:pPr>
              <a:defRPr sz="1400">
                <a:solidFill>
                  <a:srgbClr val="6F626C"/>
                </a:solidFill>
                <a:latin typeface="Heiti SC"/>
              </a:defRPr>
            </a:pPr>
            <a:r>
              <a:t>保留原有内容与原图，改造承载方式，打造设定集氛围。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852928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3038"/>
                </a:solidFill>
                <a:latin typeface="Heiti SC"/>
              </a:defRPr>
            </a:pPr>
            <a:r>
              <a:t>核心关键词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154680"/>
            <a:ext cx="24140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月光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纸页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香槟金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雾粉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记忆碎片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274320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87952" y="2852928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3038"/>
                </a:solidFill>
                <a:latin typeface="Heiti SC"/>
              </a:defRPr>
            </a:pPr>
            <a:r>
              <a:t>视觉原则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7952" y="3154680"/>
            <a:ext cx="24140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浅色背景 / 层次感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图片做插画卡承载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文字进入奶白信息容器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743200"/>
            <a:ext cx="32918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2852928"/>
            <a:ext cx="2962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3038"/>
                </a:solidFill>
                <a:latin typeface="Heiti SC"/>
              </a:defRPr>
            </a:pPr>
            <a:r>
              <a:t>目标效果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912" y="3154680"/>
            <a:ext cx="296265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像乙女游戏设定集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不是商务汇报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有书页、信笺、命运线语言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A0D8"/>
          </a:solidFill>
          <a:ln>
            <a:solidFill>
              <a:srgbClr val="B8A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21440" cy="6172200"/>
          </a:xfrm>
          <a:prstGeom prst="rect">
            <a:avLst/>
          </a:prstGeom>
          <a:solidFill>
            <a:srgbClr val="FFFDF9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3038"/>
                </a:solidFill>
                <a:latin typeface="Songti SC"/>
              </a:defRPr>
            </a:pPr>
            <a:r>
              <a:t>设计目标</a:t>
            </a:r>
          </a:p>
          <a:p>
            <a:pPr>
              <a:defRPr sz="1100">
                <a:solidFill>
                  <a:srgbClr val="6F626C"/>
                </a:solidFill>
                <a:latin typeface="Heiti SC"/>
              </a:defRPr>
            </a:pPr>
            <a:r>
              <a:t>不改文字，不换图片内容；只改变承载方式与气质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572768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3038"/>
                </a:solidFill>
                <a:latin typeface="Heiti SC"/>
              </a:defRPr>
            </a:pPr>
            <a:r>
              <a:t>保留内容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874520"/>
            <a:ext cx="30540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原文字保留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原图片保留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只做视觉承载升级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72768"/>
            <a:ext cx="2962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3038"/>
                </a:solidFill>
                <a:latin typeface="Heiti SC"/>
              </a:defRPr>
            </a:pPr>
            <a:r>
              <a:t>改造重点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74520"/>
            <a:ext cx="296265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浅色纸感背景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圆角相框与金边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书签、信笺、记忆碎片符号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463040"/>
            <a:ext cx="2926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1" y="1572768"/>
            <a:ext cx="2596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3038"/>
                </a:solidFill>
                <a:latin typeface="Heiti SC"/>
              </a:defRPr>
            </a:pPr>
            <a:r>
              <a:t>避坑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1" y="1874520"/>
            <a:ext cx="25968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不要全页白遮罩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不要把图洗灰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不要用商务卡片硬替代氛围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AFC8DE"/>
          </a:solidFill>
          <a:ln>
            <a:solidFill>
              <a:srgbClr val="AFC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21440" cy="6172200"/>
          </a:xfrm>
          <a:prstGeom prst="rect">
            <a:avLst/>
          </a:prstGeom>
          <a:solidFill>
            <a:srgbClr val="FFFDF9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3038"/>
                </a:solidFill>
                <a:latin typeface="Songti SC"/>
              </a:defRPr>
            </a:pPr>
            <a:r>
              <a:t>色彩系统</a:t>
            </a:r>
          </a:p>
          <a:p>
            <a:pPr>
              <a:defRPr sz="1100">
                <a:solidFill>
                  <a:srgbClr val="6F626C"/>
                </a:solidFill>
                <a:latin typeface="Heiti SC"/>
              </a:defRPr>
            </a:pPr>
            <a:r>
              <a:t>香槟金 / 雾粉 / 月光蓝 / 柔紫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25603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664208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3038"/>
                </a:solidFill>
                <a:latin typeface="Heiti SC"/>
              </a:defRPr>
            </a:pPr>
            <a:r>
              <a:t>主背景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965960"/>
            <a:ext cx="223113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#F8F3EF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象牙纸色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554480"/>
            <a:ext cx="25603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2192" y="1664208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3038"/>
                </a:solidFill>
                <a:latin typeface="Heiti SC"/>
              </a:defRPr>
            </a:pPr>
            <a:r>
              <a:t>辅助背景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2" y="1965960"/>
            <a:ext cx="223113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#F2EEF8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淡紫雾色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554480"/>
            <a:ext cx="25603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664208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3038"/>
                </a:solidFill>
                <a:latin typeface="Heiti SC"/>
              </a:defRPr>
            </a:pPr>
            <a:r>
              <a:t>信息卡底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965960"/>
            <a:ext cx="223113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#FFFDF9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奶白卡片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554480"/>
            <a:ext cx="1828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91472" y="1664208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3038"/>
                </a:solidFill>
                <a:latin typeface="Heiti SC"/>
              </a:defRPr>
            </a:pPr>
            <a:r>
              <a:t>强调色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1472" y="1965960"/>
            <a:ext cx="14996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#C8A15A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#D9A8B8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#AFC8DE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A8B8"/>
          </a:solidFill>
          <a:ln>
            <a:solidFill>
              <a:srgbClr val="D9A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21440" cy="6172200"/>
          </a:xfrm>
          <a:prstGeom prst="rect">
            <a:avLst/>
          </a:prstGeom>
          <a:solidFill>
            <a:srgbClr val="FFFDF9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3038"/>
                </a:solidFill>
                <a:latin typeface="Songti SC"/>
              </a:defRPr>
            </a:pPr>
            <a:r>
              <a:t>版式原则</a:t>
            </a:r>
          </a:p>
          <a:p>
            <a:pPr>
              <a:defRPr sz="1100">
                <a:solidFill>
                  <a:srgbClr val="6F626C"/>
                </a:solidFill>
                <a:latin typeface="Heiti SC"/>
              </a:defRPr>
            </a:pPr>
            <a:r>
              <a:t>每页只做三件事：保留文字、保留图片、改变承载方式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474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55648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3038"/>
                </a:solidFill>
                <a:latin typeface="Heiti SC"/>
              </a:defRPr>
            </a:pPr>
            <a:r>
              <a:t>标题承载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314553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左上书签条 + 香槟金细线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标题偏宋体衬线，文学感更强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45920"/>
            <a:ext cx="3474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755648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3038"/>
                </a:solidFill>
                <a:latin typeface="Heiti SC"/>
              </a:defRPr>
            </a:pPr>
            <a:r>
              <a:t>正文承载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057400"/>
            <a:ext cx="314553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半透明奶白卡片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避免直接压在复杂图片上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28346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755648"/>
            <a:ext cx="2505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3038"/>
                </a:solidFill>
                <a:latin typeface="Heiti SC"/>
              </a:defRPr>
            </a:pPr>
            <a:r>
              <a:t>图片承载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057400"/>
            <a:ext cx="250545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圆角 8–12px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细金边 / 轻阴影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像设定集插画卡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A15A"/>
          </a:solidFill>
          <a:ln>
            <a:solidFill>
              <a:srgbClr val="C8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21440" cy="6172200"/>
          </a:xfrm>
          <a:prstGeom prst="rect">
            <a:avLst/>
          </a:prstGeom>
          <a:solidFill>
            <a:srgbClr val="FFFDF9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3038"/>
                </a:solidFill>
                <a:latin typeface="Songti SC"/>
              </a:defRPr>
            </a:pPr>
            <a:r>
              <a:t>核心机制页</a:t>
            </a:r>
          </a:p>
          <a:p>
            <a:pPr>
              <a:defRPr sz="1100">
                <a:solidFill>
                  <a:srgbClr val="6F626C"/>
                </a:solidFill>
                <a:latin typeface="Heiti SC"/>
              </a:defRPr>
            </a:pPr>
            <a:r>
              <a:t>命运环、书页卡、记忆碎片与情感徽章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108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55648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3038"/>
                </a:solidFill>
                <a:latin typeface="Heiti SC"/>
              </a:defRPr>
            </a:pPr>
            <a:r>
              <a:t>命运环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277977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化凡 / 邂逅 / 修复 / 选择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四枚书签式节点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645920"/>
            <a:ext cx="34747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0832" y="1755648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3038"/>
                </a:solidFill>
                <a:latin typeface="Heiti SC"/>
              </a:defRPr>
            </a:pPr>
            <a:r>
              <a:t>情感机制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2057400"/>
            <a:ext cx="31455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粘合 / 沟通 / 共鸣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纵向递进的情感徽章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645920"/>
            <a:ext cx="29260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1" y="1755648"/>
            <a:ext cx="2596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3038"/>
                </a:solidFill>
                <a:latin typeface="Heiti SC"/>
              </a:defRPr>
            </a:pPr>
            <a:r>
              <a:t>世界观语言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1" y="2057400"/>
            <a:ext cx="25968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门、心、月、书签、丝带</a:t>
            </a:r>
          </a:p>
          <a:p>
            <a:pPr>
              <a:spcAft>
                <a:spcPts val="600"/>
              </a:spcAft>
              <a:defRPr sz="1200">
                <a:solidFill>
                  <a:srgbClr val="6F626C"/>
                </a:solidFill>
                <a:latin typeface="Heiti SC"/>
              </a:defRPr>
            </a:pPr>
            <a:r>
              <a:t>更像乙女游戏设定集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A0D8"/>
          </a:solidFill>
          <a:ln>
            <a:solidFill>
              <a:srgbClr val="B8A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21440" cy="6172200"/>
          </a:xfrm>
          <a:prstGeom prst="rect">
            <a:avLst/>
          </a:prstGeom>
          <a:solidFill>
            <a:srgbClr val="FFFDF9"/>
          </a:solidFill>
          <a:ln>
            <a:solidFill>
              <a:srgbClr val="DC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3038"/>
                </a:solidFill>
                <a:latin typeface="Songti SC"/>
              </a:defRPr>
            </a:pPr>
            <a:r>
              <a:t>结论</a:t>
            </a:r>
          </a:p>
          <a:p>
            <a:pPr>
              <a:defRPr sz="1100">
                <a:solidFill>
                  <a:srgbClr val="6F626C"/>
                </a:solidFill>
                <a:latin typeface="Heiti SC"/>
              </a:defRPr>
            </a:pPr>
            <a:r>
              <a:t>将原始内容转成“设定集世界观”而不是“汇报页”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2412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C8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920240"/>
            <a:ext cx="96926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B3038"/>
                </a:solidFill>
                <a:latin typeface="Heiti SC"/>
              </a:defRPr>
            </a:pPr>
            <a:r>
              <a:t>这套方案的核心不是把颜色变得更“漂亮”，而是把每一页都变成“乙女游戏设定集”的承载形式。</a:t>
            </a:r>
          </a:p>
          <a:p>
            <a:pPr>
              <a:spcAft>
                <a:spcPts val="600"/>
              </a:spcAft>
              <a:defRPr sz="1600">
                <a:solidFill>
                  <a:srgbClr val="3B3038"/>
                </a:solidFill>
                <a:latin typeface="Heiti SC"/>
              </a:defRPr>
            </a:pPr>
            <a:r>
              <a:t>图片保留原内容，文字保留原信息，页面背景、卡片、符号与线条共同构成世界观感。</a:t>
            </a:r>
          </a:p>
          <a:p>
            <a:pPr>
              <a:spcAft>
                <a:spcPts val="600"/>
              </a:spcAft>
              <a:defRPr sz="1600">
                <a:solidFill>
                  <a:srgbClr val="3B3038"/>
                </a:solidFill>
                <a:latin typeface="Heiti SC"/>
              </a:defRPr>
            </a:pPr>
            <a:r>
              <a:t>这样既能保留原始素材，又能把它转成更有氛围的演示文稿。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